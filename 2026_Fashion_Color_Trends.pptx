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0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600" b="1">
                <a:solidFill>
                  <a:srgbClr val="F4F1EA"/>
                </a:solidFill>
                <a:latin typeface="Georgia"/>
              </a:defRPr>
            </a:pPr>
            <a:r>
              <a:t>2026 FASHION COLOR TRENDS</a:t>
            </a:r>
          </a:p>
          <a:p>
            <a:pPr>
              <a:spcBef>
                <a:spcPts val="1500"/>
              </a:spcBef>
              <a:defRPr sz="2800" b="1">
                <a:solidFill>
                  <a:srgbClr val="A8DADC"/>
                </a:solidFill>
                <a:latin typeface="Microsoft JhengHei"/>
              </a:defRPr>
            </a:pPr>
            <a:r>
              <a:t>2026 流行色彩趨勢：服裝設計備課與配色意境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4114800"/>
            <a:ext cx="3657600" cy="18288"/>
          </a:xfrm>
          <a:prstGeom prst="rect">
            <a:avLst/>
          </a:prstGeom>
          <a:solidFill>
            <a:srgbClr val="A8D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6015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F4F1EA"/>
                </a:solidFill>
                <a:latin typeface="Microsoft JhengHei"/>
              </a:defRPr>
            </a:pPr>
            <a:r>
              <a:t>授課科目：服裝設計實務  |  備課人：講師團隊  |  適用學期：2026 春季班</a:t>
            </a:r>
          </a:p>
          <a:p>
            <a:pPr>
              <a:spcBef>
                <a:spcPts val="1000"/>
              </a:spcBef>
              <a:defRPr sz="1100">
                <a:solidFill>
                  <a:srgbClr val="A8DADC"/>
                </a:solidFill>
                <a:latin typeface="Microsoft JhengHei"/>
              </a:defRPr>
            </a:pPr>
            <a:r>
              <a:t>本教案探討變革藍綠色、雲舞白等趨勢色彩在異材質及服裝輪廓中的應用與配色哲學。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03034"/>
                </a:solidFill>
                <a:latin typeface="Georgia"/>
              </a:defRPr>
            </a:pPr>
            <a:r>
              <a:t>01 / COURSE OUTLINE</a:t>
            </a:r>
          </a:p>
          <a:p>
            <a:pPr>
              <a:spcBef>
                <a:spcPts val="500"/>
              </a:spcBef>
              <a:defRPr sz="2400" b="1">
                <a:solidFill>
                  <a:srgbClr val="141E1E"/>
                </a:solidFill>
                <a:latin typeface="Microsoft JhengHei"/>
              </a:defRPr>
            </a:pPr>
            <a:r>
              <a:t>課程大綱與四大色彩維度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920240"/>
            <a:ext cx="10360152" cy="18288"/>
          </a:xfrm>
          <a:prstGeom prst="rect">
            <a:avLst/>
          </a:prstGeom>
          <a:solidFill>
            <a:srgbClr val="003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2377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3034"/>
                </a:solidFill>
                <a:latin typeface="Georgia"/>
              </a:defRPr>
            </a:pPr>
            <a:r>
              <a:t>CHAPTER I</a:t>
            </a:r>
          </a:p>
          <a:p>
            <a:pPr>
              <a:spcBef>
                <a:spcPts val="1000"/>
              </a:spcBef>
              <a:defRPr sz="1800" b="1">
                <a:solidFill>
                  <a:srgbClr val="141E1E"/>
                </a:solidFill>
                <a:latin typeface="Microsoft JhengHei"/>
              </a:defRPr>
            </a:pPr>
            <a:r>
              <a:t>變革藍綠色</a:t>
            </a:r>
          </a:p>
          <a:p>
            <a:pPr>
              <a:defRPr sz="1100">
                <a:solidFill>
                  <a:srgbClr val="787878"/>
                </a:solidFill>
                <a:latin typeface="Georgia"/>
              </a:defRPr>
            </a:pPr>
            <a:r>
              <a:t>Transformative Teal</a:t>
            </a:r>
          </a:p>
          <a:p>
            <a:pPr>
              <a:spcBef>
                <a:spcPts val="1500"/>
              </a:spcBef>
              <a:defRPr sz="1150">
                <a:solidFill>
                  <a:srgbClr val="141E1E"/>
                </a:solidFill>
                <a:latin typeface="Microsoft JhengHei"/>
              </a:defRPr>
            </a:pPr>
            <a:r>
              <a:t>科技感與大自然的融合，象徵氣候轉型期的冷靜與韌性力量。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5304" y="2286000"/>
            <a:ext cx="2377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3034"/>
                </a:solidFill>
                <a:latin typeface="Georgia"/>
              </a:defRPr>
            </a:pPr>
            <a:r>
              <a:t>CHAPTER II</a:t>
            </a:r>
          </a:p>
          <a:p>
            <a:pPr>
              <a:spcBef>
                <a:spcPts val="1000"/>
              </a:spcBef>
              <a:defRPr sz="1800" b="1">
                <a:solidFill>
                  <a:srgbClr val="141E1E"/>
                </a:solidFill>
                <a:latin typeface="Microsoft JhengHei"/>
              </a:defRPr>
            </a:pPr>
            <a:r>
              <a:t>雲舞白</a:t>
            </a:r>
          </a:p>
          <a:p>
            <a:pPr>
              <a:defRPr sz="1100">
                <a:solidFill>
                  <a:srgbClr val="787878"/>
                </a:solidFill>
                <a:latin typeface="Georgia"/>
              </a:defRPr>
            </a:pPr>
            <a:r>
              <a:t>Cloud Dancer</a:t>
            </a:r>
          </a:p>
          <a:p>
            <a:pPr>
              <a:spcBef>
                <a:spcPts val="1500"/>
              </a:spcBef>
              <a:defRPr sz="1150">
                <a:solidFill>
                  <a:srgbClr val="141E1E"/>
                </a:solidFill>
                <a:latin typeface="Microsoft JhengHei"/>
              </a:defRPr>
            </a:pPr>
            <a:r>
              <a:t>極簡與減法生活的回應，引導「禪意奢華」與多層次布料堆疊。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6208" y="2286000"/>
            <a:ext cx="2377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3034"/>
                </a:solidFill>
                <a:latin typeface="Georgia"/>
              </a:defRPr>
            </a:pPr>
            <a:r>
              <a:t>CHAPTER III</a:t>
            </a:r>
          </a:p>
          <a:p>
            <a:pPr>
              <a:spcBef>
                <a:spcPts val="1000"/>
              </a:spcBef>
              <a:defRPr sz="1800" b="1">
                <a:solidFill>
                  <a:srgbClr val="141E1E"/>
                </a:solidFill>
                <a:latin typeface="Microsoft JhengHei"/>
              </a:defRPr>
            </a:pPr>
            <a:r>
              <a:t>雙重對比色</a:t>
            </a:r>
          </a:p>
          <a:p>
            <a:pPr>
              <a:defRPr sz="1100">
                <a:solidFill>
                  <a:srgbClr val="787878"/>
                </a:solidFill>
                <a:latin typeface="Georgia"/>
              </a:defRPr>
            </a:pPr>
            <a:r>
              <a:t>Marina Blue &amp; Acacia</a:t>
            </a:r>
          </a:p>
          <a:p>
            <a:pPr>
              <a:spcBef>
                <a:spcPts val="1500"/>
              </a:spcBef>
              <a:defRPr sz="1150">
                <a:solidFill>
                  <a:srgbClr val="141E1E"/>
                </a:solidFill>
                <a:latin typeface="Microsoft JhengHei"/>
              </a:defRPr>
            </a:pPr>
            <a:r>
              <a:t>靜謐海藍與活力黃的強烈對比，強調個人表達與樂觀主義。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7112" y="2286000"/>
            <a:ext cx="2377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3034"/>
                </a:solidFill>
                <a:latin typeface="Georgia"/>
              </a:defRPr>
            </a:pPr>
            <a:r>
              <a:t>CHAPTER IV</a:t>
            </a:r>
          </a:p>
          <a:p>
            <a:pPr>
              <a:spcBef>
                <a:spcPts val="1000"/>
              </a:spcBef>
              <a:defRPr sz="1800" b="1">
                <a:solidFill>
                  <a:srgbClr val="141E1E"/>
                </a:solidFill>
                <a:latin typeface="Microsoft JhengHei"/>
              </a:defRPr>
            </a:pPr>
            <a:r>
              <a:t>粉質玫瑰色</a:t>
            </a:r>
          </a:p>
          <a:p>
            <a:pPr>
              <a:defRPr sz="1100">
                <a:solidFill>
                  <a:srgbClr val="787878"/>
                </a:solidFill>
                <a:latin typeface="Georgia"/>
              </a:defRPr>
            </a:pPr>
            <a:r>
              <a:t>Tea Rose &amp; Dusty Rose</a:t>
            </a:r>
          </a:p>
          <a:p>
            <a:pPr>
              <a:spcBef>
                <a:spcPts val="1500"/>
              </a:spcBef>
              <a:defRPr sz="1150">
                <a:solidFill>
                  <a:srgbClr val="141E1E"/>
                </a:solidFill>
                <a:latin typeface="Microsoft JhengHei"/>
              </a:defRPr>
            </a:pPr>
            <a:r>
              <a:t>溫暖的低飽和泥土玫瑰色調，帶來視覺上的撫慰感與日常優雅。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3034"/>
                </a:solidFill>
                <a:latin typeface="Georgia"/>
              </a:defRPr>
            </a:pPr>
            <a:r>
              <a:t>02 / KEY TRENDS</a:t>
            </a:r>
          </a:p>
          <a:p>
            <a:pPr>
              <a:spcBef>
                <a:spcPts val="500"/>
              </a:spcBef>
              <a:defRPr sz="2400" b="1">
                <a:solidFill>
                  <a:srgbClr val="141E1E"/>
                </a:solidFill>
                <a:latin typeface="Microsoft JhengHei"/>
              </a:defRPr>
            </a:pPr>
            <a:r>
              <a:t>變革藍綠色 — 科技與自然的流動共生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920240"/>
            <a:ext cx="10360152" cy="18288"/>
          </a:xfrm>
          <a:prstGeom prst="rect">
            <a:avLst/>
          </a:prstGeom>
          <a:solidFill>
            <a:srgbClr val="003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47548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3034"/>
                </a:solidFill>
                <a:latin typeface="Microsoft JhengHei"/>
              </a:defRPr>
            </a:pPr>
            <a:r>
              <a:t>配色意境與心理感受</a:t>
            </a:r>
          </a:p>
          <a:p>
            <a:pPr>
              <a:spcBef>
                <a:spcPts val="1200"/>
              </a:spcBef>
              <a:defRPr sz="1200">
                <a:solidFill>
                  <a:srgbClr val="141E1E"/>
                </a:solidFill>
                <a:latin typeface="Microsoft JhengHei"/>
              </a:defRPr>
            </a:pPr>
            <a:r>
              <a:t>變革藍綠色 (Transformative Teal) 是結合了深邃海洋藍與新鮮薄荷綠的流動色彩。它帶有一種來自數位世界的超現實光澤，同時也具備森林與海洋的治癒力量。</a:t>
            </a:r>
            <a:br/>
            <a:br/>
            <a:r>
              <a:t>這款顏色反映了消費者在氣候變化與科技革命的轉型期中，對穩定感、安全性以及永續自然的心理渴望。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5486400"/>
            <a:ext cx="1645920" cy="365760"/>
          </a:xfrm>
          <a:prstGeom prst="rect">
            <a:avLst/>
          </a:prstGeom>
          <a:solidFill>
            <a:srgbClr val="00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51760" y="5486400"/>
            <a:ext cx="1645920" cy="365760"/>
          </a:xfrm>
          <a:prstGeom prst="rect">
            <a:avLst/>
          </a:prstGeom>
          <a:solidFill>
            <a:srgbClr val="4F9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2286000"/>
            <a:ext cx="502920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3034"/>
                </a:solidFill>
                <a:latin typeface="Microsoft JhengHei"/>
              </a:defRPr>
            </a:pPr>
            <a:r>
              <a:t>服裝設計應用與搭配</a:t>
            </a:r>
          </a:p>
          <a:p>
            <a:pPr>
              <a:spcBef>
                <a:spcPts val="1200"/>
              </a:spcBef>
              <a:defRPr sz="1200">
                <a:solidFill>
                  <a:srgbClr val="141E1E"/>
                </a:solidFill>
                <a:latin typeface="Microsoft JhengHei"/>
              </a:defRPr>
            </a:pPr>
            <a:r>
              <a:t>1. 科技機能美學：適合用於防風衣、塗層風衣及戶外運動服飾，透過防水尼龍布料呈現其特有的科技數位反光感。</a:t>
            </a:r>
            <a:br/>
            <a:br/>
            <a:r>
              <a:t>2. 奢華都會剪裁：在西裝外套、大衣與真絲襯衫上，此色展現高雅且富深度的精緻感。建議搭配中性灰或暖白，在正裝與休閒之間維持平衡。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3034"/>
                </a:solidFill>
                <a:latin typeface="Georgia"/>
              </a:defRPr>
            </a:pPr>
            <a:r>
              <a:t>03 / KEY TRENDS</a:t>
            </a:r>
          </a:p>
          <a:p>
            <a:pPr>
              <a:spcBef>
                <a:spcPts val="500"/>
              </a:spcBef>
              <a:defRPr sz="2400" b="1">
                <a:solidFill>
                  <a:srgbClr val="141E1E"/>
                </a:solidFill>
                <a:latin typeface="Microsoft JhengHei"/>
              </a:defRPr>
            </a:pPr>
            <a:r>
              <a:t>雲舞白 — 減法生活下的禪意奢華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920240"/>
            <a:ext cx="10360152" cy="18288"/>
          </a:xfrm>
          <a:prstGeom prst="rect">
            <a:avLst/>
          </a:prstGeom>
          <a:solidFill>
            <a:srgbClr val="003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47548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3034"/>
                </a:solidFill>
                <a:latin typeface="Microsoft JhengHei"/>
              </a:defRPr>
            </a:pPr>
            <a:r>
              <a:t>配色意境與心理感受</a:t>
            </a:r>
          </a:p>
          <a:p>
            <a:pPr>
              <a:spcBef>
                <a:spcPts val="1200"/>
              </a:spcBef>
              <a:defRPr sz="1200">
                <a:solidFill>
                  <a:srgbClr val="141E1E"/>
                </a:solidFill>
                <a:latin typeface="Microsoft JhengHei"/>
              </a:defRPr>
            </a:pPr>
            <a:r>
              <a:t>雲舞白 (Cloud Dancer, PANTONE 11-4201) 是一種帶有粉質、霧面且溫潤的暖白色調。它如同空白的畫布，代表心靈的空盈與留白。</a:t>
            </a:r>
            <a:br/>
            <a:br/>
            <a:r>
              <a:t>在充斥噪音與數位過載的當代環境中，雲舞白象徵了自我減法生活、視覺淨化以及極致的精神修復。它既不喧賓奪主，又飽含溫厚的情感。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5486400"/>
            <a:ext cx="1645920" cy="365760"/>
          </a:xfrm>
          <a:prstGeom prst="rect">
            <a:avLst/>
          </a:prstGeom>
          <a:solidFill>
            <a:srgbClr val="F0EEE6"/>
          </a:solidFill>
          <a:ln w="12700">
            <a:solidFill>
              <a:srgbClr val="C8C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51760" y="5486400"/>
            <a:ext cx="1645920" cy="365760"/>
          </a:xfrm>
          <a:prstGeom prst="rect">
            <a:avLst/>
          </a:prstGeom>
          <a:solidFill>
            <a:srgbClr val="E4E0D4"/>
          </a:solidFill>
          <a:ln w="12700">
            <a:solidFill>
              <a:srgbClr val="C8C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2286000"/>
            <a:ext cx="502920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3034"/>
                </a:solidFill>
                <a:latin typeface="Microsoft JhengHei"/>
              </a:defRPr>
            </a:pPr>
            <a:r>
              <a:t>服裝設計應用與搭配</a:t>
            </a:r>
          </a:p>
          <a:p>
            <a:pPr>
              <a:spcBef>
                <a:spcPts val="1200"/>
              </a:spcBef>
              <a:defRPr sz="1200">
                <a:solidFill>
                  <a:srgbClr val="141E1E"/>
                </a:solidFill>
                <a:latin typeface="Microsoft JhengHei"/>
              </a:defRPr>
            </a:pPr>
            <a:r>
              <a:t>1. 異材質堆疊 (Texture Layering)：這是雲舞白設計的核心。利用棉麻的粗糙、絲綢的滑順與羊毛的蓬鬆，在同一種色調中堆疊出豐富的觸覺層次。</a:t>
            </a:r>
            <a:br/>
            <a:br/>
            <a:r>
              <a:t>2. 禪意極簡剪裁 (Quiet Luxury)：運用在落肩針織衫、寬鬆亞麻長褲以及無結構大衣。這種顏色強調視覺減法，讓觀者的焦點回歸服裝剪裁與人體的自然線條。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3034"/>
                </a:solidFill>
                <a:latin typeface="Georgia"/>
              </a:defRPr>
            </a:pPr>
            <a:r>
              <a:t>04 / KEY TRENDS</a:t>
            </a:r>
          </a:p>
          <a:p>
            <a:pPr>
              <a:spcBef>
                <a:spcPts val="500"/>
              </a:spcBef>
              <a:defRPr sz="2400" b="1">
                <a:solidFill>
                  <a:srgbClr val="141E1E"/>
                </a:solidFill>
                <a:latin typeface="Microsoft JhengHei"/>
              </a:defRPr>
            </a:pPr>
            <a:r>
              <a:t>靜謐海藍與金合歡黃 — 雙重對比的自我表達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920240"/>
            <a:ext cx="10360152" cy="18288"/>
          </a:xfrm>
          <a:prstGeom prst="rect">
            <a:avLst/>
          </a:prstGeom>
          <a:solidFill>
            <a:srgbClr val="003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47548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3034"/>
                </a:solidFill>
                <a:latin typeface="Microsoft JhengHei"/>
              </a:defRPr>
            </a:pPr>
            <a:r>
              <a:t>配色意境與心理感受</a:t>
            </a:r>
          </a:p>
          <a:p>
            <a:pPr>
              <a:spcBef>
                <a:spcPts val="1200"/>
              </a:spcBef>
              <a:defRPr sz="1200">
                <a:solidFill>
                  <a:srgbClr val="141E1E"/>
                </a:solidFill>
                <a:latin typeface="Microsoft JhengHei"/>
              </a:defRPr>
            </a:pPr>
            <a:r>
              <a:t>Marina Blue 帶有深邃且理性的平靜感受，而 Acacia Yellow 則是充滿能量的亮黃，這兩者的結合產生了強烈的視覺火花。</a:t>
            </a:r>
            <a:br/>
            <a:br/>
            <a:r>
              <a:t>此配色組合反映了消費者對於「個人化表達」與「重拾樂觀希望」的渴望，大膽地在經典中融入亮眼焦點，象徵以積極樂觀的態度應對未來。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5486400"/>
            <a:ext cx="1645920" cy="365760"/>
          </a:xfrm>
          <a:prstGeom prst="rect">
            <a:avLst/>
          </a:prstGeom>
          <a:solidFill>
            <a:srgbClr val="6CA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51760" y="5486400"/>
            <a:ext cx="1645920" cy="365760"/>
          </a:xfrm>
          <a:prstGeom prst="rect">
            <a:avLst/>
          </a:prstGeom>
          <a:solidFill>
            <a:srgbClr val="EE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2286000"/>
            <a:ext cx="502920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3034"/>
                </a:solidFill>
                <a:latin typeface="Microsoft JhengHei"/>
              </a:defRPr>
            </a:pPr>
            <a:r>
              <a:t>服裝設計應用與搭配</a:t>
            </a:r>
          </a:p>
          <a:p>
            <a:pPr>
              <a:spcBef>
                <a:spcPts val="1200"/>
              </a:spcBef>
              <a:defRPr sz="1200">
                <a:solidFill>
                  <a:srgbClr val="141E1E"/>
                </a:solidFill>
                <a:latin typeface="Microsoft JhengHei"/>
              </a:defRPr>
            </a:pPr>
            <a:r>
              <a:t>1. 經典與活力的平衡 (Color Blocking)：建議將穩重的 Marina Blue 作為外套或風衣底色，並在襯衫、內搭或袖口配件上運用亮麗的 Acacia Yellow 作為點綴。</a:t>
            </a:r>
            <a:br/>
            <a:br/>
            <a:r>
              <a:t>2. 拼接藝術：在運動街頭服飾與針織系列中，使用這兩個顏色的區塊拼接，能展現富有趣味性與當代感的幾何線條美學。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3034"/>
                </a:solidFill>
                <a:latin typeface="Georgia"/>
              </a:defRPr>
            </a:pPr>
            <a:r>
              <a:t>05 / KEY TRENDS</a:t>
            </a:r>
          </a:p>
          <a:p>
            <a:pPr>
              <a:spcBef>
                <a:spcPts val="500"/>
              </a:spcBef>
              <a:defRPr sz="2400" b="1">
                <a:solidFill>
                  <a:srgbClr val="141E1E"/>
                </a:solidFill>
                <a:latin typeface="Microsoft JhengHei"/>
              </a:defRPr>
            </a:pPr>
            <a:r>
              <a:t>茶玫瑰與粉黛色 — 溫暖療癒的粉質大地感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920240"/>
            <a:ext cx="10360152" cy="18288"/>
          </a:xfrm>
          <a:prstGeom prst="rect">
            <a:avLst/>
          </a:prstGeom>
          <a:solidFill>
            <a:srgbClr val="003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47548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3034"/>
                </a:solidFill>
                <a:latin typeface="Microsoft JhengHei"/>
              </a:defRPr>
            </a:pPr>
            <a:r>
              <a:t>配色意境與心理感受</a:t>
            </a:r>
          </a:p>
          <a:p>
            <a:pPr>
              <a:spcBef>
                <a:spcPts val="1200"/>
              </a:spcBef>
              <a:defRPr sz="1200">
                <a:solidFill>
                  <a:srgbClr val="141E1E"/>
                </a:solidFill>
                <a:latin typeface="Microsoft JhengHei"/>
              </a:defRPr>
            </a:pPr>
            <a:r>
              <a:t>茶玫瑰 (Tea Rose) 與粉黛色 (Dusty Rose) 是一組低飽和、溫和的灰粉色系，帶有溫暖的泥土礦物感。這不是甜美的粉紅色，而是更加成熟、自然且舒緩的色彩。</a:t>
            </a:r>
            <a:br/>
            <a:br/>
            <a:r>
              <a:t>這組色彩代表消費者追求心靈慰藉與視覺低感度舒適（Visual Comfort），帶給人優雅、親切且大氣的印象。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5486400"/>
            <a:ext cx="1645920" cy="365760"/>
          </a:xfrm>
          <a:prstGeom prst="rect">
            <a:avLst/>
          </a:prstGeom>
          <a:solidFill>
            <a:srgbClr val="CA67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51760" y="5486400"/>
            <a:ext cx="1645920" cy="365760"/>
          </a:xfrm>
          <a:prstGeom prst="rect">
            <a:avLst/>
          </a:prstGeom>
          <a:solidFill>
            <a:srgbClr val="E59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2286000"/>
            <a:ext cx="502920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3034"/>
                </a:solidFill>
                <a:latin typeface="Microsoft JhengHei"/>
              </a:defRPr>
            </a:pPr>
            <a:r>
              <a:t>服裝設計應用與搭配</a:t>
            </a:r>
          </a:p>
          <a:p>
            <a:pPr>
              <a:spcBef>
                <a:spcPts val="1200"/>
              </a:spcBef>
              <a:defRPr sz="1200">
                <a:solidFill>
                  <a:srgbClr val="141E1E"/>
                </a:solidFill>
                <a:latin typeface="Microsoft JhengHei"/>
              </a:defRPr>
            </a:pPr>
            <a:r>
              <a:t>1. 溫暖針織與柔感雪紡：特別適合用於細針織衫、厚羊毛圍巾或輕盈的雪紡長裙。這些低彩度色系能將織物纖維的柔軟度完美呈現。</a:t>
            </a:r>
            <a:br/>
            <a:br/>
            <a:r>
              <a:t>2. 高階同色系搭配 (Tone-on-Tone)：將深淺不同的粉黛色、茶玫瑰與深棕色混合搭配，能傳遞出優雅柔美且極具現代感的日常奢華品味。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3034"/>
                </a:solidFill>
                <a:latin typeface="Georgia"/>
              </a:defRPr>
            </a:pPr>
            <a:r>
              <a:t>06 / FABRIC &amp; COLOR MATCHING</a:t>
            </a:r>
          </a:p>
          <a:p>
            <a:pPr>
              <a:spcBef>
                <a:spcPts val="500"/>
              </a:spcBef>
              <a:defRPr sz="2400" b="1">
                <a:solidFill>
                  <a:srgbClr val="141E1E"/>
                </a:solidFill>
                <a:latin typeface="Microsoft JhengHei"/>
              </a:defRPr>
            </a:pPr>
            <a:r>
              <a:t>材質與色彩的感知對話：從視覺走向觸覺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920240"/>
            <a:ext cx="10360152" cy="18288"/>
          </a:xfrm>
          <a:prstGeom prst="rect">
            <a:avLst/>
          </a:prstGeom>
          <a:solidFill>
            <a:srgbClr val="003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32004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A8DADC"/>
                </a:solidFill>
                <a:latin typeface="Georgia"/>
              </a:defRPr>
            </a:pPr>
            <a:r>
              <a:t>01</a:t>
            </a:r>
          </a:p>
          <a:p>
            <a:pPr>
              <a:spcBef>
                <a:spcPts val="500"/>
              </a:spcBef>
              <a:defRPr sz="1600" b="1">
                <a:solidFill>
                  <a:srgbClr val="141E1E"/>
                </a:solidFill>
                <a:latin typeface="Microsoft JhengHei"/>
              </a:defRPr>
            </a:pPr>
            <a:r>
              <a:t>科技機能纖維</a:t>
            </a:r>
          </a:p>
          <a:p>
            <a:pPr>
              <a:defRPr sz="1100">
                <a:solidFill>
                  <a:srgbClr val="787878"/>
                </a:solidFill>
                <a:latin typeface="Georgia"/>
              </a:defRPr>
            </a:pPr>
            <a:r>
              <a:t>Tech &amp; Performance</a:t>
            </a:r>
          </a:p>
          <a:p>
            <a:pPr>
              <a:spcBef>
                <a:spcPts val="1000"/>
              </a:spcBef>
              <a:defRPr sz="1200" b="1">
                <a:solidFill>
                  <a:srgbClr val="003034"/>
                </a:solidFill>
                <a:latin typeface="Microsoft JhengHei"/>
              </a:defRPr>
            </a:pPr>
            <a:r>
              <a:t>主要搭配色：變革藍綠色</a:t>
            </a:r>
          </a:p>
          <a:p>
            <a:pPr>
              <a:spcBef>
                <a:spcPts val="800"/>
              </a:spcBef>
              <a:defRPr sz="1150">
                <a:solidFill>
                  <a:srgbClr val="141E1E"/>
                </a:solidFill>
                <a:latin typeface="Microsoft JhengHei"/>
              </a:defRPr>
            </a:pPr>
            <a:r>
              <a:t>適合防水尼龍、反光金屬感塗層布料。利用微弱的反光效果來凸顯 2026 色彩中的數位科技本質與流動光澤。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9704" y="2377440"/>
            <a:ext cx="32004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A8DADC"/>
                </a:solidFill>
                <a:latin typeface="Georgia"/>
              </a:defRPr>
            </a:pPr>
            <a:r>
              <a:t>02</a:t>
            </a:r>
          </a:p>
          <a:p>
            <a:pPr>
              <a:spcBef>
                <a:spcPts val="500"/>
              </a:spcBef>
              <a:defRPr sz="1600" b="1">
                <a:solidFill>
                  <a:srgbClr val="141E1E"/>
                </a:solidFill>
                <a:latin typeface="Microsoft JhengHei"/>
              </a:defRPr>
            </a:pPr>
            <a:r>
              <a:t>高奢天然纖維</a:t>
            </a:r>
          </a:p>
          <a:p>
            <a:pPr>
              <a:defRPr sz="1100">
                <a:solidFill>
                  <a:srgbClr val="787878"/>
                </a:solidFill>
                <a:latin typeface="Georgia"/>
              </a:defRPr>
            </a:pPr>
            <a:r>
              <a:t>Cashmere &amp; Silk</a:t>
            </a:r>
          </a:p>
          <a:p>
            <a:pPr>
              <a:spcBef>
                <a:spcPts val="1000"/>
              </a:spcBef>
              <a:defRPr sz="1200" b="1">
                <a:solidFill>
                  <a:srgbClr val="003034"/>
                </a:solidFill>
                <a:latin typeface="Microsoft JhengHei"/>
              </a:defRPr>
            </a:pPr>
            <a:r>
              <a:t>主要搭配色：雲舞白 / 茶玫瑰</a:t>
            </a:r>
          </a:p>
          <a:p>
            <a:pPr>
              <a:spcBef>
                <a:spcPts val="800"/>
              </a:spcBef>
              <a:defRPr sz="1150">
                <a:solidFill>
                  <a:srgbClr val="141E1E"/>
                </a:solidFill>
                <a:latin typeface="Microsoft JhengHei"/>
              </a:defRPr>
            </a:pPr>
            <a:r>
              <a:t>適合未染色的有機羊絨、重磅真絲。強調原始纖維的微小孔隙與手工質感，傳遞極簡與放慢步調的禪意。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65008" y="2377440"/>
            <a:ext cx="32004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A8DADC"/>
                </a:solidFill>
                <a:latin typeface="Georgia"/>
              </a:defRPr>
            </a:pPr>
            <a:r>
              <a:t>03</a:t>
            </a:r>
          </a:p>
          <a:p>
            <a:pPr>
              <a:spcBef>
                <a:spcPts val="500"/>
              </a:spcBef>
              <a:defRPr sz="1600" b="1">
                <a:solidFill>
                  <a:srgbClr val="141E1E"/>
                </a:solidFill>
                <a:latin typeface="Microsoft JhengHei"/>
              </a:defRPr>
            </a:pPr>
            <a:r>
              <a:t>質樸觸感面料</a:t>
            </a:r>
          </a:p>
          <a:p>
            <a:pPr>
              <a:defRPr sz="1100">
                <a:solidFill>
                  <a:srgbClr val="787878"/>
                </a:solidFill>
                <a:latin typeface="Georgia"/>
              </a:defRPr>
            </a:pPr>
            <a:r>
              <a:t>Raw Linen &amp; Wool</a:t>
            </a:r>
          </a:p>
          <a:p>
            <a:pPr>
              <a:spcBef>
                <a:spcPts val="1000"/>
              </a:spcBef>
              <a:defRPr sz="1200" b="1">
                <a:solidFill>
                  <a:srgbClr val="003034"/>
                </a:solidFill>
                <a:latin typeface="Microsoft JhengHei"/>
              </a:defRPr>
            </a:pPr>
            <a:r>
              <a:t>主要搭配色：粉黛色 / 大地色</a:t>
            </a:r>
          </a:p>
          <a:p>
            <a:pPr>
              <a:spcBef>
                <a:spcPts val="800"/>
              </a:spcBef>
              <a:defRPr sz="1150">
                <a:solidFill>
                  <a:srgbClr val="141E1E"/>
                </a:solidFill>
                <a:latin typeface="Microsoft JhengHei"/>
              </a:defRPr>
            </a:pPr>
            <a:r>
              <a:t>適合水洗亞麻、粗針織羊毛。粉質泥土色調與不完美的天然紋理結合，散發回歸自然、不加修飾的日常溫暖。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0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A8DADC"/>
                </a:solidFill>
                <a:latin typeface="Georgia"/>
              </a:defRPr>
            </a:pPr>
            <a:r>
              <a:t>07 / CLASS WORKSHOP &amp; SUMMARY</a:t>
            </a:r>
          </a:p>
          <a:p>
            <a:pPr>
              <a:spcBef>
                <a:spcPts val="500"/>
              </a:spcBef>
              <a:defRPr sz="2400" b="1">
                <a:solidFill>
                  <a:srgbClr val="F4F1EA"/>
                </a:solidFill>
                <a:latin typeface="Microsoft JhengHei"/>
              </a:defRPr>
            </a:pPr>
            <a:r>
              <a:t>備課教案總結與學生工作坊實作步驟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920240"/>
            <a:ext cx="10360152" cy="18288"/>
          </a:xfrm>
          <a:prstGeom prst="rect">
            <a:avLst/>
          </a:prstGeom>
          <a:solidFill>
            <a:srgbClr val="A8D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47548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A8DADC"/>
                </a:solidFill>
                <a:latin typeface="Microsoft JhengHei"/>
              </a:defRPr>
            </a:pPr>
            <a:r>
              <a:t>教師備課重點摘要</a:t>
            </a:r>
          </a:p>
          <a:p>
            <a:pPr>
              <a:spcBef>
                <a:spcPts val="1200"/>
              </a:spcBef>
              <a:defRPr sz="1200">
                <a:solidFill>
                  <a:srgbClr val="F4F1EA"/>
                </a:solidFill>
                <a:latin typeface="Microsoft JhengHei"/>
              </a:defRPr>
            </a:pPr>
            <a:r>
              <a:t>1. 著重色彩與材料的連動：提醒學生 2026 年的色彩並非獨立存在，色彩的深度取決於面料紋理（例如雲舞白在羊毛與真絲的對比）。</a:t>
            </a:r>
            <a:br/>
            <a:br/>
            <a:r>
              <a:t>2. 引導情感性配色：教導學生如何使用『變革藍綠色』與『茶玫瑰』來營造消費者在後疫情與轉型時代的修復性情緒與安全感。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2286000"/>
            <a:ext cx="5029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A8DADC"/>
                </a:solidFill>
                <a:latin typeface="Microsoft JhengHei"/>
              </a:defRPr>
            </a:pPr>
            <a:r>
              <a:t>學生工作坊實作步驟</a:t>
            </a:r>
          </a:p>
          <a:p>
            <a:pPr>
              <a:spcBef>
                <a:spcPts val="1200"/>
              </a:spcBef>
              <a:defRPr sz="1150">
                <a:solidFill>
                  <a:srgbClr val="F4F1EA"/>
                </a:solidFill>
                <a:latin typeface="Microsoft JhengHei"/>
              </a:defRPr>
            </a:pPr>
            <a:r>
              <a:t>步驟一：色彩感知練習</a:t>
            </a:r>
            <a:br/>
            <a:r>
              <a:t>引導學生收集 2026 色彩樣本，並撰寫 150 字的配色意境描述。</a:t>
            </a:r>
            <a:br/>
            <a:br/>
            <a:r>
              <a:t>步驟二：布料拼接與廓形提案</a:t>
            </a:r>
            <a:br/>
            <a:r>
              <a:t>挑選至少兩種流行色，結合異材質（棉、麻、絲、毛）進行實體服裝廓形提案。</a:t>
            </a:r>
            <a:br/>
            <a:br/>
            <a:r>
              <a:t>步驟三：膠囊系列提案簡報</a:t>
            </a:r>
            <a:br/>
            <a:r>
              <a:t>學生需發表一組包含 3-5 套服裝的色彩搭配企劃案，並進行互評。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